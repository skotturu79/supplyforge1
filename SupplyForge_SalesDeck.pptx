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91440"/>
            <a:ext cx="2560320" cy="2560320"/>
          </a:xfrm>
          <a:prstGeom prst="ellipse">
            <a:avLst/>
          </a:prstGeom>
          <a:solidFill>
            <a:srgbClr val="05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-182880"/>
            <a:ext cx="1828800" cy="18288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457200"/>
            <a:ext cx="1280160" cy="1280160"/>
          </a:xfrm>
          <a:prstGeom prst="ellipse">
            <a:avLst/>
          </a:prstGeom>
          <a:solidFill>
            <a:srgbClr val="08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0" y="5120640"/>
            <a:ext cx="3227832" cy="1737360"/>
          </a:xfrm>
          <a:prstGeom prst="rect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4846320"/>
            <a:ext cx="1673352" cy="2011680"/>
          </a:xfrm>
          <a:prstGeom prst="rect">
            <a:avLst/>
          </a:prstGeom>
          <a:solidFill>
            <a:srgbClr val="07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"/>
            <a:ext cx="6583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SupplyForge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43891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0B981"/>
                </a:solidFill>
              </a:rPr>
              <a:t>The Modern B2B Supply Chain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Streamline vendor relationships  ·  Automate document exchange  ·  Ship smarter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2011680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Label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15768" y="4160520"/>
            <a:ext cx="2011680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5768" y="416052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Doc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28616" y="4160520"/>
            <a:ext cx="2011680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416052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Real-Time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1464" y="4160520"/>
            <a:ext cx="2011680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1464" y="416052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Partner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54312" y="4160520"/>
            <a:ext cx="2011680" cy="4206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4160520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API-First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© 2026 SupplyForge Inc.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2194560"/>
            <a:ext cx="1188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THE
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Supply chain complexity</a:t>
            </a:r>
          </a:p>
          <a:p>
            <a:pPr algn="l"/>
            <a:r>
              <a:rPr sz="2600" b="1">
                <a:solidFill>
                  <a:srgbClr val="1F2937"/>
                </a:solidFill>
              </a:rPr>
              <a:t>is slowing you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Your competitors are moving faster. Manual processes, disconnected tools, and lack of visibility are costing you time and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011680"/>
            <a:ext cx="987552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194560"/>
            <a:ext cx="4663440" cy="17373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194560"/>
            <a:ext cx="16459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395728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⚠  Manual Label Printing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816352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Costly errors, reprints, and misrouted shipments cost 2–5% of revenue annually.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194560"/>
            <a:ext cx="4663440" cy="1737360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194560"/>
            <a:ext cx="16459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395728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✗  Document Chaos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816352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POs, invoices, and ASNs buried in email. No audit trail. Disputes drag on for weeks.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206240"/>
            <a:ext cx="4663440" cy="173736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4206240"/>
            <a:ext cx="164592" cy="1737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407407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?  No Vendor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828031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Blind spots across your supplier network. You learn about delays after they happen.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4206240"/>
            <a:ext cx="4663440" cy="173736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4206240"/>
            <a:ext cx="164592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4407407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&lt;/&gt; Integration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28031"/>
            <a:ext cx="4251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Every ERP connection requires expensive custom development work and months of effort.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One Platform. Total Supply Chain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Every tool your operations team needs — unified, connected, and always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2148840" cy="4297680"/>
          </a:xfrm>
          <a:prstGeom prst="roundRect">
            <a:avLst/>
          </a:prstGeom>
          <a:solidFill>
            <a:srgbClr val="37415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1810512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80136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Smart 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90672"/>
            <a:ext cx="1051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3218688"/>
            <a:ext cx="1929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All label types, 2D barcodes,
drag-and-drop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1554480"/>
            <a:ext cx="2148840" cy="4297680"/>
          </a:xfrm>
          <a:prstGeom prst="roundRect">
            <a:avLst/>
          </a:prstGeom>
          <a:solidFill>
            <a:srgbClr val="37415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1810512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0136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6060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 Exchange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090672"/>
            <a:ext cx="1051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3218688"/>
            <a:ext cx="1929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POs, Invoices, ASNs with
automated status workflows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1554480"/>
            <a:ext cx="2148840" cy="4297680"/>
          </a:xfrm>
          <a:prstGeom prst="roundRect">
            <a:avLst/>
          </a:prstGeom>
          <a:solidFill>
            <a:srgbClr val="37415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70448" y="1810512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180136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6060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Live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0136" y="3090672"/>
            <a:ext cx="10515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3218688"/>
            <a:ext cx="1929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Real-time carrier events
across FedEx, UPS, DHL, USPS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61503" y="1554480"/>
            <a:ext cx="2148840" cy="4297680"/>
          </a:xfrm>
          <a:prstGeom prst="roundRect">
            <a:avLst/>
          </a:prstGeom>
          <a:solidFill>
            <a:srgbClr val="37415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0455" y="1810512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5" y="180136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3" y="26060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Partner Network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3" y="3090672"/>
            <a:ext cx="10515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1231" y="3218688"/>
            <a:ext cx="1929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Verified vendors with ratings,
certifications, and direct EDI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11511" y="1554480"/>
            <a:ext cx="2148840" cy="4297680"/>
          </a:xfrm>
          <a:prstGeom prst="roundRect">
            <a:avLst/>
          </a:prstGeom>
          <a:solidFill>
            <a:srgbClr val="37415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70463" y="1810512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70463" y="1801368"/>
            <a:ext cx="640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&lt;/&gt;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606040"/>
            <a:ext cx="18745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Developer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60151" y="3090672"/>
            <a:ext cx="1051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39" y="3218688"/>
            <a:ext cx="19293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RESTful API, webhooks,
and 50+ ERP connectors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EE7B7"/>
                </a:solidFill>
              </a:rPr>
              <a:t>Used by 500+ enterprises across 40 countries  ·  ISO-27001 certified  ·  99.9% uptime SLA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Smart Label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Generate, preview, and print every label type — carrier-ready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26974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69748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83664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6" × 4"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24231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2304288"/>
            <a:ext cx="2368296" cy="15087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2304288"/>
            <a:ext cx="2368296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340864"/>
            <a:ext cx="2295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SupplyForge  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615184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From: GlobalParts Ltd, Munich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779776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To: Acme Mfg, Chicago IL 60601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" y="3054096"/>
            <a:ext cx="2039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1648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1574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2559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03543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73469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65513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35439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05365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97408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28393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98319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9303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288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91272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3547872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F2937"/>
                </a:solidFill>
              </a:rPr>
              <a:t>7489234810294837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95020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FEDEX  ·  UPS  ·  DHL  ·  USPS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422452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Code-128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44988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Signature  ·  Return  ·  Rate calc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1325880"/>
            <a:ext cx="26974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5848" y="132588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65576" y="132588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PALLET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5576" y="1883664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5" × 7"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2212848"/>
            <a:ext cx="24231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2304288"/>
            <a:ext cx="2368296" cy="15087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0440" y="2304288"/>
            <a:ext cx="236829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75304" y="2340864"/>
            <a:ext cx="2295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SupplyForge  PALLET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5304" y="2615184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From: GlobalParts Ltd, Munich 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75304" y="2779776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To: Acme Mfg, Chicago IL 60601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85032" y="3054096"/>
            <a:ext cx="2039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85032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16016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85942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6927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47911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17837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09881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79807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9733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41776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72760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42686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73671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04656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35640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75304" y="3547872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F2937"/>
                </a:solidFill>
              </a:rPr>
              <a:t>7489234810294837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395020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GS1 / SSCC-18 Standard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422452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Gross weight  ·  HU count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0440" y="44988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Production &amp; expiry dates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0216" y="1325880"/>
            <a:ext cx="26974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0216" y="1325880"/>
            <a:ext cx="26974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9944" y="132588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HANDLING
UNIT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9944" y="1883664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6" × 4"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37376" y="2212848"/>
            <a:ext cx="24231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64808" y="2304288"/>
            <a:ext cx="2368296" cy="15087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64808" y="2304288"/>
            <a:ext cx="2368296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19672" y="2340864"/>
            <a:ext cx="2295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SupplyForge  HANDLING UNIT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9672" y="2615184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From: GlobalParts Ltd, Munich 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9672" y="2779776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To: Acme Mfg, Chicago IL 60601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9400" y="3054096"/>
            <a:ext cx="2039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29400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60384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0310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61295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92279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62205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4249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4175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94101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86144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17129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87055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18039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49024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580008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19672" y="3547872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F2937"/>
                </a:solidFill>
              </a:rPr>
              <a:t>7489234810294837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64808" y="395020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SAP-compatible format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64808" y="422452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Material no.  ·  Plant  ·  SLoc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4808" y="44988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Delivery  ·  Batch  ·  Lot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44584" y="1325880"/>
            <a:ext cx="26974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244584" y="1325880"/>
            <a:ext cx="26974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354311" y="1325880"/>
            <a:ext cx="2478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BOX / CARTON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54311" y="1883664"/>
            <a:ext cx="2478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</a:rPr>
              <a:t>4" × 4"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381744" y="2212848"/>
            <a:ext cx="242316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409176" y="2304288"/>
            <a:ext cx="2368296" cy="15087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409176" y="2304288"/>
            <a:ext cx="236829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64040" y="2340864"/>
            <a:ext cx="22951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</a:rPr>
              <a:t>SupplyForge  BOX / CARTON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64040" y="2615184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From: GlobalParts Ltd, Munich DE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464040" y="2779776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</a:rPr>
              <a:t>Ship To: Acme Mfg, Chicago IL 60601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73767" y="3054096"/>
            <a:ext cx="2039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573767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704752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74678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05663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136647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06573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398617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568543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38469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830512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961497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131423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262407" y="3054096"/>
            <a:ext cx="77882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1393392" y="3054096"/>
            <a:ext cx="38941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1524376" y="3054096"/>
            <a:ext cx="116824" cy="457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64040" y="3547872"/>
            <a:ext cx="22951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F2937"/>
                </a:solidFill>
              </a:rPr>
              <a:t>7489234810294837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09176" y="395020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Sequential carton numbering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09176" y="422452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Qty per carton  ·  Total cartons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09176" y="4498848"/>
            <a:ext cx="2368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59669"/>
                </a:solidFill>
              </a:rPr>
              <a:t>✓ Batch  ·  Weight  ·  Contents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Drag &amp; Drop Label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Build pixel-perfect labels with 2D barcodes, live data binding, and full undo/redo.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29844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52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8 node types including QR &amp; Data Matrix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88366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379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Live field binding to POs, invoices, ASNs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4688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Drag, resize, snap-to-12px grid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05409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Multi-select · align left/center/right/top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63931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93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Full undo/redo history stack (Ctrl+Z/Y)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4224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78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Copy · Paste · Duplicate (Ctrl+C/D/V)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809744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64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5 preset sizes: Shipping, Pallet, A5…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539496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Print-ready PDF · ZPL · PNG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207008"/>
            <a:ext cx="6492240" cy="5349240"/>
          </a:xfrm>
          <a:prstGeom prst="roundRect">
            <a:avLst/>
          </a:prstGeom>
          <a:solidFill>
            <a:srgbClr val="D1D5D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1207008"/>
            <a:ext cx="64922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13248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↩ Undo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↪ Redo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61504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4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⊞ Snap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85632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⋯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← Align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33888" y="1261872"/>
            <a:ext cx="896112" cy="201168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33888" y="1261872"/>
            <a:ext cx="8961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1F2937"/>
                </a:solidFill>
              </a:rPr>
              <a:t>→ Dist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1527048"/>
            <a:ext cx="1188720" cy="5029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1609344"/>
            <a:ext cx="1060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0B981"/>
                </a:solidFill>
              </a:rPr>
              <a:t>ELEMENTS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85816" y="1901952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1536" y="1920240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T  Text Block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5816" y="2414016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31536" y="2432304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{} Data Field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5816" y="2926080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2944368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⁞⁞ Barcode 128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85816" y="3438144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1536" y="3456432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⊞  QR Code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85816" y="3950208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31536" y="3968496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⊟  Data Matrix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85816" y="4462272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4480560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▭  Rectangle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85816" y="4974336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4992624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—  Divider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85816" y="5486400"/>
            <a:ext cx="1024128" cy="402336"/>
          </a:xfrm>
          <a:prstGeom prst="roundRect">
            <a:avLst/>
          </a:prstGeom>
          <a:solidFill>
            <a:srgbClr val="4B5563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31536" y="5504688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🖼  Logo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92240" y="1527048"/>
            <a:ext cx="4160520" cy="50292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12279" y="1801368"/>
            <a:ext cx="35204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12279" y="1801368"/>
            <a:ext cx="3520440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19" y="1883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CUSTOM LABEL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03719" y="2304288"/>
            <a:ext cx="1645920" cy="182880"/>
          </a:xfrm>
          <a:prstGeom prst="rect">
            <a:avLst/>
          </a:prstGeom>
          <a:solidFill>
            <a:srgbClr val="F9FAF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0295" y="231343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From: GlobalParts Ltd.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03719" y="2606040"/>
            <a:ext cx="2286000" cy="237744"/>
          </a:xfrm>
          <a:prstGeom prst="rect">
            <a:avLst/>
          </a:prstGeom>
          <a:solidFill>
            <a:srgbClr val="F9FAF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0295" y="261518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2937"/>
                </a:solidFill>
              </a:rPr>
              <a:t>Ship To: Acme Manufacturing Co.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19" y="2916936"/>
            <a:ext cx="2286000" cy="182880"/>
          </a:xfrm>
          <a:prstGeom prst="rect">
            <a:avLst/>
          </a:prstGeom>
          <a:solidFill>
            <a:srgbClr val="F9FAF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0295" y="29260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100 Industrial Blvd, Chicago IL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12279" y="3246120"/>
            <a:ext cx="352044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199" y="3383280"/>
            <a:ext cx="2514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199" y="3383280"/>
            <a:ext cx="96043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76728" y="3383280"/>
            <a:ext cx="144065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86278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47806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09334" y="3383280"/>
            <a:ext cx="144065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8884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332390" y="3383280"/>
            <a:ext cx="96043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41940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751490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864996" y="3383280"/>
            <a:ext cx="96043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26524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36074" y="3383280"/>
            <a:ext cx="96043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97603" y="3383280"/>
            <a:ext cx="96043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59131" y="3383280"/>
            <a:ext cx="48021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20659" y="3383280"/>
            <a:ext cx="144065" cy="56692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03719" y="4032504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</a:rPr>
              <a:t>7489234810294837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87767" y="3355848"/>
            <a:ext cx="2569464" cy="630936"/>
          </a:xfrm>
          <a:prstGeom prst="rect">
            <a:avLst/>
          </a:prstGeom>
          <a:noFill/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652759" y="1527048"/>
            <a:ext cx="11430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25911" y="1636776"/>
            <a:ext cx="103327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7280"/>
                </a:solidFill>
              </a:rPr>
              <a:t>BARCODE 128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25911" y="1874519"/>
            <a:ext cx="9966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25911" y="1929384"/>
            <a:ext cx="10332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</a:rPr>
              <a:t>Bind to field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725911" y="2112264"/>
            <a:ext cx="996696" cy="237744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62487" y="212140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trackingNumber 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25911" y="2514600"/>
            <a:ext cx="10332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B7280"/>
                </a:solidFill>
              </a:rPr>
              <a:t>Position &amp; Size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25911" y="2660904"/>
            <a:ext cx="996696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725911" y="273405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</a:rPr>
              <a:t>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890503" y="2734056"/>
            <a:ext cx="274320" cy="237744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08791" y="27340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66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37976" y="2734056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</a:rPr>
              <a:t>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402567" y="2734056"/>
            <a:ext cx="274320" cy="237744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420855" y="27340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206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25911" y="308152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</a:rPr>
              <a:t>W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890503" y="3081528"/>
            <a:ext cx="274320" cy="237744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908791" y="30815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300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37976" y="308152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B7280"/>
                </a:solidFill>
              </a:rPr>
              <a:t>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402567" y="3081528"/>
            <a:ext cx="274320" cy="237744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420855" y="30815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2937"/>
                </a:solidFill>
              </a:rPr>
              <a:t>52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38544" y="5385816"/>
            <a:ext cx="841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</a:rPr>
              <a:t>QR Code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01968" y="5641848"/>
            <a:ext cx="89611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701536" y="5741416"/>
            <a:ext cx="696975" cy="69697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01104" y="5840984"/>
            <a:ext cx="497839" cy="497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900672" y="5940552"/>
            <a:ext cx="298704" cy="29870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701535" y="5741416"/>
            <a:ext cx="696975" cy="69697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801103" y="5840984"/>
            <a:ext cx="497839" cy="497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900671" y="5940552"/>
            <a:ext cx="298704" cy="29870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701536" y="5741416"/>
            <a:ext cx="696975" cy="69697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801104" y="5840984"/>
            <a:ext cx="497839" cy="497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00672" y="5940552"/>
            <a:ext cx="298704" cy="29870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900672" y="6438392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398512" y="5940551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99808" y="6438392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398512" y="6139688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298944" y="6438392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398512" y="6338824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99808" y="6040120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199376" y="6139688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000239" y="6239256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298944" y="6139688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099808" y="6338824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199376" y="5940551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98944" y="6338824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000239" y="6040120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298944" y="5940551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099808" y="6139688"/>
            <a:ext cx="79654" cy="7965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80960" y="53858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F2937"/>
                </a:solidFill>
              </a:rPr>
              <a:t>DataMatrix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62671" y="5641848"/>
            <a:ext cx="868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662671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662671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662671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444484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662671" y="5728716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749540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662671" y="581558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836407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836407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444484" y="581558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662671" y="5902452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23275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662671" y="598932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010144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010144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444484" y="598932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662671" y="607618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097011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662671" y="6163056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183879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183879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444484" y="6163056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662671" y="624992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270747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62671" y="6336792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357615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357615" y="564184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444484" y="6336792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62671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444484" y="642366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836407" y="581558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923275" y="598932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010144" y="5902452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097011" y="607618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183879" y="5902452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270747" y="5989320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923275" y="6163056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097011" y="624992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010144" y="6076188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36407" y="624992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183879" y="6163056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270747" y="5815584"/>
            <a:ext cx="76443" cy="76443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Document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From PO to Payment — every step tracked, automated, and auditable.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481328"/>
            <a:ext cx="749808" cy="7498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1664208" cy="214884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PO Draft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07792"/>
            <a:ext cx="658368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Buyer creates
purchase 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5728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6896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91839" y="1481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39" y="148132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2395728"/>
            <a:ext cx="1664208" cy="21488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59" y="24871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PO 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59" y="2907792"/>
            <a:ext cx="65836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59" y="301752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Vendor receives
instantly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79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27447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28616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23559" y="1481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59" y="148132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59" y="2395728"/>
            <a:ext cx="1664208" cy="2148840"/>
          </a:xfrm>
          <a:prstGeom prst="roundRect">
            <a:avLst/>
          </a:prstGeom>
          <a:solidFill>
            <a:srgbClr val="D1FAE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24871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Accepted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907792"/>
            <a:ext cx="6583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301752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Vendor confirms
with ASN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59168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0336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955279" y="1481328"/>
            <a:ext cx="749808" cy="74980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148132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2395728"/>
            <a:ext cx="1664208" cy="214884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24871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Invoice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907792"/>
            <a:ext cx="65836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01752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Auto-matched
against 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19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90888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92055" y="1828800"/>
            <a:ext cx="128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87000" y="1481328"/>
            <a:ext cx="749808" cy="7498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1481328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800" y="2395728"/>
            <a:ext cx="1664208" cy="214884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2487168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Paid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2907792"/>
            <a:ext cx="65836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301752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Payment triggered
on approval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754880"/>
            <a:ext cx="2606040" cy="16459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93776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559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Document Types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29000" y="4754880"/>
            <a:ext cx="2606040" cy="16459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493776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&lt; 1s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5559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Delivery Latency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754880"/>
            <a:ext cx="2606040" cy="16459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93776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100%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559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Audit Trail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81160" y="4754880"/>
            <a:ext cx="2606040" cy="164592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0" y="4937760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3-click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5559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Dispute Resolution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 Where Every Shipment Is —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Real-time events from FedEx, UPS, DHL, and USPS — unified in one feed.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04288"/>
            <a:ext cx="10725912" cy="5486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PICKED
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Munich  ·  Feb 18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2011680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DEPARTED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Frankfurt  ·  Feb 19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201168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IN TRANSIT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Memphis TN  ·  Feb 21</a:t>
            </a:r>
          </a:p>
        </p:txBody>
      </p:sp>
      <p:sp>
        <p:nvSpPr>
          <p:cNvPr id="19" name="Oval 18"/>
          <p:cNvSpPr/>
          <p:nvPr/>
        </p:nvSpPr>
        <p:spPr>
          <a:xfrm>
            <a:off x="7178040" y="201168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CUSTOMS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Chicago O'Hare  ·  Feb 22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0" y="2011680"/>
            <a:ext cx="603504" cy="60350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OUT FOR
DELIV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Chicago IL  ·  Feb 23</a:t>
            </a:r>
          </a:p>
        </p:txBody>
      </p:sp>
      <p:sp>
        <p:nvSpPr>
          <p:cNvPr id="27" name="Oval 26"/>
          <p:cNvSpPr/>
          <p:nvPr/>
        </p:nvSpPr>
        <p:spPr>
          <a:xfrm>
            <a:off x="11475720" y="2011680"/>
            <a:ext cx="603504" cy="6035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75720" y="2002536"/>
            <a:ext cx="6035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2770632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DELIVERED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331012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</a:rPr>
              <a:t>Chicago IL  ·  Feb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</a:rPr>
              <a:t>Supported Carriers: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041648"/>
            <a:ext cx="1600200" cy="384048"/>
          </a:xfrm>
          <a:prstGeom prst="roundRect">
            <a:avLst/>
          </a:prstGeom>
          <a:solidFill>
            <a:srgbClr val="4D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404164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FEDEX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4041648"/>
            <a:ext cx="1600200" cy="384048"/>
          </a:xfrm>
          <a:prstGeom prst="roundRect">
            <a:avLst/>
          </a:prstGeom>
          <a:solidFill>
            <a:srgbClr val="351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404164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91656" y="4041648"/>
            <a:ext cx="1600200" cy="384048"/>
          </a:xfrm>
          <a:prstGeom prst="roundRect">
            <a:avLst/>
          </a:prstGeom>
          <a:solidFill>
            <a:srgbClr val="FE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404164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DHL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0183" y="4041648"/>
            <a:ext cx="1600200" cy="384048"/>
          </a:xfrm>
          <a:prstGeom prst="round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3" y="404164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681728"/>
            <a:ext cx="3611880" cy="1810512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681728"/>
            <a:ext cx="109728" cy="18105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484632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
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" y="5413248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Webhook push on every scan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4681728"/>
            <a:ext cx="3611880" cy="1810512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4681728"/>
            <a:ext cx="109728" cy="18105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84632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Multi-carrier
Unified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5413248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Single dashboard, all carriers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5320" y="4681728"/>
            <a:ext cx="3611880" cy="1810512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75320" y="4681728"/>
            <a:ext cx="109728" cy="18105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4" y="484632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Auto-Alerts
&amp; SLA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064" y="5413248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Email/Slack on delay or exception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Partner Network &amp; API-First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Connect your entire ecosystem — vendors, ERPs, carriers — through one secure API.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606040"/>
            <a:ext cx="1234440" cy="1234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606040"/>
            <a:ext cx="1234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Supply
Forge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Vendor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4.8★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2377440"/>
            <a:ext cx="1440180" cy="845820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48640" y="338328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Vendor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4.5★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005840" y="3223260"/>
            <a:ext cx="1623060" cy="617220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965960" y="14173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5270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ERP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8745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1874519"/>
            <a:ext cx="205740" cy="1348741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200400" y="192024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20299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Carrier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FedEx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628900" y="2377440"/>
            <a:ext cx="1028700" cy="845820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91840" y="3383280"/>
            <a:ext cx="914400" cy="914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493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Vendor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4.9★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628900" y="3223260"/>
            <a:ext cx="1120139" cy="617220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965960" y="416052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42702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ERP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423160" y="3223260"/>
            <a:ext cx="205740" cy="1394460"/>
          </a:xfrm>
          <a:prstGeom prst="line">
            <a:avLst/>
          </a:prstGeom>
          <a:ln w="12700">
            <a:solidFill>
              <a:srgbClr val="C0C4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0" y="1298448"/>
            <a:ext cx="7223760" cy="20116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143560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REST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1773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</a:rPr>
              <a:t>https://api.supplyforge.io/v1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213969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POST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2139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/v1/carriers/FEDEX/labels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4140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GET 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4140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/v1/documents?type=PO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6883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PATCH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2688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/v1/documents/doc-001/accept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9626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6B6D4"/>
                </a:solidFill>
              </a:rPr>
              <a:t>GET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29626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</a:rPr>
              <a:t>/v1/shipments/{id}/events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584448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50+ Integrations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4041648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4041648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73168" y="41513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3168" y="4517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ERP Connector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0" y="4041648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4041648"/>
            <a:ext cx="109728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0607" y="41513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Oracle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50607" y="4517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NetSuite / ERP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26880" y="4041648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26880" y="4041648"/>
            <a:ext cx="10972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28048" y="41513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Salesforce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28048" y="4517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CRM / CPQ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5157216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0" y="5157216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73168" y="52669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Slack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73168" y="5632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Notifications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49440" y="5157216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49440" y="5157216"/>
            <a:ext cx="109728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50607" y="52669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Zapier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50607" y="5632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No-code flows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80" y="5157216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0" y="5157216"/>
            <a:ext cx="109728" cy="9144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8048" y="52669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</a:rPr>
              <a:t>EDI X12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28048" y="5632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Legacy EDI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Simple, Transparent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Start free, scale as you grow. No hidden fees. Cancel anytime.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3429000" cy="521208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342900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5E7EB"/>
                </a:solidFill>
              </a:rPr>
              <a:t>FREE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920240"/>
            <a:ext cx="242316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2937"/>
                </a:solidFill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8833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B7280"/>
                </a:solidFill>
              </a:rPr>
              <a:t>/month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063240"/>
            <a:ext cx="30632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821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82112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1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21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21024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100 labels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59935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59935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1 carrier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988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98848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Basic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Community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6080760"/>
            <a:ext cx="288036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60807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Get Started Free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1325880"/>
            <a:ext cx="3429000" cy="521208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1261872"/>
            <a:ext cx="3429000" cy="5212080"/>
          </a:xfrm>
          <a:prstGeom prst="roundRect">
            <a:avLst/>
          </a:prstGeom>
          <a:solidFill>
            <a:srgbClr val="1F2937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12079" y="1097280"/>
            <a:ext cx="1874519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10972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✦  MOST POPULAR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59" y="1920240"/>
            <a:ext cx="24231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011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$99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688336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/month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063240"/>
            <a:ext cx="30632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31821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59" y="3182112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5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21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3621024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5,000 labels / 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059935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4059935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All carriers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4988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59" y="4498848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API access + webhooks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93776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59" y="4937760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Priority email support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59" y="6080760"/>
            <a:ext cx="2880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59" y="60807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</a:rPr>
              <a:t>Start PRO Trial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7888" y="1325880"/>
            <a:ext cx="3429000" cy="521208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83879" y="1261872"/>
            <a:ext cx="342900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146304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5CF6"/>
                </a:solidFill>
              </a:rPr>
              <a:t>ENTERPRISE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86800" y="1920240"/>
            <a:ext cx="242316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2011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2937"/>
                </a:solidFill>
              </a:rPr>
              <a:t>Custom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59" y="3063240"/>
            <a:ext cx="306324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59" y="318211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182112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Unlimited users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59" y="3621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621024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Unlimited labels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59" y="4059935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059935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White-label option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59" y="44988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498848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Dedicated CSM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59" y="493776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937760"/>
            <a:ext cx="2770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</a:rPr>
              <a:t>SLA 99.9%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58200" y="6080760"/>
            <a:ext cx="288036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60807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Contact Sales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731520"/>
            <a:ext cx="4572000" cy="4572000"/>
          </a:xfrm>
          <a:prstGeom prst="ellipse">
            <a:avLst/>
          </a:prstGeom>
          <a:solidFill>
            <a:srgbClr val="0D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274320"/>
            <a:ext cx="2560320" cy="2560320"/>
          </a:xfrm>
          <a:prstGeom prst="ellipse">
            <a:avLst/>
          </a:prstGeom>
          <a:solidFill>
            <a:srgbClr val="05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-91440"/>
            <a:ext cx="1828800" cy="18288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Ready to Modernize Your Supply Chain?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029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Join 500+ enterprises already running on SupplyForge.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3317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27248"/>
            <a:ext cx="3520440" cy="173736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552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Book a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712463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See SupplyForge live in 30 minutes with your own team.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23317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31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127248"/>
            <a:ext cx="3520440" cy="173736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2552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Free Trial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712463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30 days free — full PRO features, no credit card required.</a:t>
            </a:r>
          </a:p>
        </p:txBody>
      </p:sp>
      <p:sp>
        <p:nvSpPr>
          <p:cNvPr id="21" name="Oval 20"/>
          <p:cNvSpPr/>
          <p:nvPr/>
        </p:nvSpPr>
        <p:spPr>
          <a:xfrm>
            <a:off x="8183880" y="23317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331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127248"/>
            <a:ext cx="3520440" cy="173736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2552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3712463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Onboarding, data migration, and ERP hookup in days, not months.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5166360"/>
            <a:ext cx="4690872" cy="6583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5166360"/>
            <a:ext cx="4690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   Start Your Free Trial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355080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🌐  supplyforge.io   ·   ✉  sales@supplyforge.io   ·   📞  +1 (888) 775-FORGE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