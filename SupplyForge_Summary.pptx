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88952" cy="36576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SupplyForge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34D399"/>
                </a:solidFill>
              </a:rPr>
              <a:t>Enterprise B2B Supply Chain Management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1737360" cy="347472"/>
          </a:xfrm>
          <a:prstGeom prst="rect">
            <a:avLst/>
          </a:prstGeom>
          <a:solidFill>
            <a:srgbClr val="002550"/>
          </a:solidFill>
          <a:ln w="1524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Multi-Tenant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3749039"/>
            <a:ext cx="1737360" cy="347472"/>
          </a:xfrm>
          <a:prstGeom prst="rect">
            <a:avLst/>
          </a:prstGeom>
          <a:solidFill>
            <a:srgbClr val="052A14"/>
          </a:solidFill>
          <a:ln w="15240">
            <a:solidFill>
              <a:srgbClr val="10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7490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AI-Powered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749039"/>
            <a:ext cx="1737360" cy="347472"/>
          </a:xfrm>
          <a:prstGeom prst="rect">
            <a:avLst/>
          </a:prstGeom>
          <a:solidFill>
            <a:srgbClr val="4D2604"/>
          </a:solidFill>
          <a:ln w="15240">
            <a:solidFill>
              <a:srgbClr val="E97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74903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Enterprise-Grade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6D70"/>
                </a:solidFill>
              </a:rPr>
              <a:t>Version 1.0  ·  February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What is SupplyForge?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02920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029200" cy="7315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2000" b="1" i="0">
                <a:solidFill>
                  <a:srgbClr val="354A5E"/>
                </a:solidFill>
              </a:rPr>
              <a:t>SupplyForge</a:t>
            </a:r>
          </a:p>
          <a:p>
            <a:pPr algn="l">
              <a:spcBef>
                <a:spcPts val="800"/>
              </a:spcBef>
            </a:pPr>
            <a:r>
              <a:rPr sz="1100" b="0" i="0">
                <a:solidFill>
                  <a:srgbClr val="6A6D70"/>
                </a:solidFill>
              </a:rPr>
              <a:t>SupplyForge is a production-ready, multi-tenant B2B supply chain SaaS platform connecting businesses and their supplier/vendor network on a single unified platform.</a:t>
            </a:r>
          </a:p>
          <a:p>
            <a:pPr algn="l">
              <a:spcBef>
                <a:spcPts val="1600"/>
              </a:spcBef>
            </a:pPr>
            <a:r>
              <a:rPr sz="1200" b="1" i="0">
                <a:solidFill>
                  <a:srgbClr val="354A5E"/>
                </a:solidFill>
              </a:rPr>
              <a:t>Core Value Propositions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32363A"/>
                </a:solidFill>
              </a:rPr>
              <a:t>✓  End-to-end document exchange (PO → Invoice → ASN → Delivery)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32363A"/>
                </a:solidFill>
              </a:rPr>
              <a:t>✓  Real-time shipment tracking across all major carriers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32363A"/>
                </a:solidFill>
              </a:rPr>
              <a:t>✓  AI-powered invoice matching via Claude Anthropic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32363A"/>
                </a:solidFill>
              </a:rPr>
              <a:t>✓  EDI support — X12 and EDIFACT for legacy ERP integration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32363A"/>
                </a:solidFill>
              </a:rPr>
              <a:t>✓  Enterprise security — AES-256-GCM, RSA-PSS, MFA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32363A"/>
                </a:solidFill>
              </a:rPr>
              <a:t>✓  Native multi-tenancy via PostgreSQL Row-Level Security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32363A"/>
                </a:solidFill>
              </a:rPr>
              <a:t>✓  Webhook + Data Feed ecosystem for real-time integrations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37160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1371600"/>
            <a:ext cx="201168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7E3E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Portal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371600"/>
            <a:ext cx="201168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F2"/>
                </a:solidFill>
              </a:rPr>
              <a:t>16+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Vendor pages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137160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1280" y="1371600"/>
            <a:ext cx="201168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9730C"/>
                </a:solidFill>
              </a:rPr>
              <a:t>15+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1488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API modules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92608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0" y="2926080"/>
            <a:ext cx="201168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3063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B3FA0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MCP AI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92608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2926080"/>
            <a:ext cx="2011680" cy="640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063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54A5E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Shared packages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0" y="292608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41280" y="2926080"/>
            <a:ext cx="201168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0632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7E3E"/>
                </a:solidFill>
              </a:rPr>
              <a:t>6+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Infrastructure svcs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48056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0" y="4480560"/>
            <a:ext cx="201168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0" y="46177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70F2"/>
                </a:solidFill>
              </a:rPr>
              <a:t>AES-256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Encryption at 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448056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79" y="4480560"/>
            <a:ext cx="201168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46177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9730C"/>
                </a:solidFill>
              </a:rPr>
              <a:t>JWT RS256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Auth standard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41280" y="4480560"/>
            <a:ext cx="2011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41280" y="4480560"/>
            <a:ext cx="201168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46177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B3FA0"/>
                </a:solidFill>
              </a:rPr>
              <a:t>EDI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5257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A6D70"/>
                </a:solidFill>
              </a:rPr>
              <a:t>X12 + EDIFACT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Monorepo · Turborepo + pnpm workspaces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1521440" cy="1673352"/>
          </a:xfrm>
          <a:prstGeom prst="rect">
            <a:avLst/>
          </a:prstGeom>
          <a:solidFill>
            <a:srgbClr val="FFFFFF"/>
          </a:solidFill>
          <a:ln w="19050">
            <a:solidFill>
              <a:srgbClr val="35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73152" cy="1673352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54A5E"/>
                </a:solidFill>
              </a:rPr>
              <a:t>PRESENTATION LAYER  —  Next.js 14 App Router (port 3000)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  Admin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751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  Business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311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  Vendor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87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  Public / Auth 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23160"/>
            <a:ext cx="115214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97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23160"/>
            <a:ext cx="73152" cy="50292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14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C"/>
                </a:solidFill>
              </a:rPr>
              <a:t>API GATEWAY  —  Kong  (rate limiting · auth · request transformation)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11521440" cy="1088136"/>
          </a:xfrm>
          <a:prstGeom prst="rect">
            <a:avLst/>
          </a:prstGeom>
          <a:solidFill>
            <a:srgbClr val="FFFFFF"/>
          </a:solidFill>
          <a:ln w="19050">
            <a:solidFill>
              <a:srgbClr val="10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73152" cy="1088136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17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APPLICATION LAYER  —  NestJS 10 + Fastify  (port 3001)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735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  Auth · Documents · Partners · Vendors · Carriers · Tracking ·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5295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  API Keys · Webhooks · Notifications · Search · Storage · Tenants ·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206240"/>
            <a:ext cx="11521440" cy="7955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206240"/>
            <a:ext cx="73152" cy="79552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DATA LAYER  —  PostgreSQL 16 · Redis 7 · Elasticsearch 8 · 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5537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  Row-Level Security  ·  BullMQ job queues  ·  Full-text search  ·  Object storage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074920"/>
            <a:ext cx="115214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074920"/>
            <a:ext cx="73152" cy="50292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166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3FA0"/>
                </a:solidFill>
              </a:rPr>
              <a:t>MESSAGE BUS  —  RabbitMQ 3  (async events · webhook delivery · EDI routing)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137160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54A5E"/>
                </a:solidFill>
              </a:rPr>
              <a:t>MCP Server
(Claude AI
Integration)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Three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One platform — three purpose-built experiences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749039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73152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99032"/>
            <a:ext cx="3749039" cy="594360"/>
          </a:xfrm>
          <a:prstGeom prst="rect">
            <a:avLst/>
          </a:prstGeom>
          <a:solidFill>
            <a:srgbClr val="D2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4A5E"/>
                </a:solidFill>
              </a:rPr>
              <a:t>🛡  Admin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57400"/>
            <a:ext cx="34747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System-wide operations dashboard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Tenant onboarding &amp; management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User management across all tenants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Vendor approval workflow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Platform health 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325880"/>
            <a:ext cx="3749039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325880"/>
            <a:ext cx="3749039" cy="73152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399032"/>
            <a:ext cx="3749039" cy="594360"/>
          </a:xfrm>
          <a:prstGeom prst="rect">
            <a:avLst/>
          </a:prstGeom>
          <a:solidFill>
            <a:srgbClr val="CBE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41732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7E3E"/>
                </a:solidFill>
              </a:rPr>
              <a:t>🏢  Business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057400"/>
            <a:ext cx="34747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Buyer-side document creation (PO, Invoice)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Partner network management &amp; tier control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Real-time shipment tracking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Vendor browsing &amp; connection management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Analytics: OTIF, invoice match, fill rate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API keys &amp; webhook 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749039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25880"/>
            <a:ext cx="3749039" cy="73152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99032"/>
            <a:ext cx="3749039" cy="594360"/>
          </a:xfrm>
          <a:prstGeom prst="rect">
            <a:avLst/>
          </a:prstGeom>
          <a:solidFill>
            <a:srgbClr val="C8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41732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F2"/>
                </a:solidFill>
              </a:rPr>
              <a:t>🏭  Vendor Portal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057400"/>
            <a:ext cx="347471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Respond to POs, submit invoices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Product catalog management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Quotes &amp; RFQ response workflow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Payments &amp; remittance tracking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Returns &amp; RMA management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Compliance document vault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Team management with role-based access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32363A"/>
                </a:solidFill>
              </a:rPr>
              <a:t>▸  Performance analytics (OTIF, KPIs)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Vendor Portal — Feature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16 pages · complete supplier operations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880360" cy="640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17320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54A5E"/>
                </a:solidFill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09928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Greeting hero + OTIF KPIs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Attention strips (alerts + OTIF gap)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Activity feed + quick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325880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325880"/>
            <a:ext cx="288036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417320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709928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Receive &amp; acknowledge POs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Line-item confirmation with qty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Accept / Reject with reason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325880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325880"/>
            <a:ext cx="288036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417320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Invoices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1709928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Create &amp; submit invoices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Outstanding / Overdue / Paid summary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Status tracking (DRAFT→PAID)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424" y="1325880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07424" y="1325880"/>
            <a:ext cx="288036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1417320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C"/>
                </a:solidFill>
              </a:rPr>
              <a:t>Shipments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1709928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Track with expandable history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Create ASN with carrier/tracking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In Transit live indicators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90088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990088"/>
            <a:ext cx="288036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081528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3FA0"/>
                </a:solidFill>
              </a:rPr>
              <a:t>Catalog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374136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10 pre-loaded SKUs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Category filter + search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Add/Edit/Delete products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88" y="2990088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18688" y="2990088"/>
            <a:ext cx="288036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28416" y="3081528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Quotes / RFQ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3374136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Receive &amp; respond to RFQs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Line-level price + lead time editor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Submit/Save draft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2990088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2990088"/>
            <a:ext cx="288036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3081528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C"/>
                </a:solidFill>
              </a:rPr>
              <a:t>Returns &amp; RMA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374136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Pipeline: Request→Approved→Closed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Issue credit notes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Full line-item breakdown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07424" y="2990088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7424" y="2990088"/>
            <a:ext cx="288036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7152" y="3081528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Payments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3374136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Remittance advice per payment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SEPA/SWIFT/ACH/WIRE methods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Early-pay discount tracking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654296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654296"/>
            <a:ext cx="2880360" cy="640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745736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54A5E"/>
                </a:solidFill>
              </a:rPr>
              <a:t>Doc Vault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5038344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ISO, Insurance, W-8, Audit certs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Expiry countdown &amp; alerts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Upload with type/issuer/dates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18688" y="4654296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18688" y="4654296"/>
            <a:ext cx="288036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45736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3FA0"/>
                </a:solidFill>
              </a:rPr>
              <a:t>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28416" y="5038344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5 roles: Admin→Viewer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Invite / Suspend / Remove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MFA status per user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63056" y="4654296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63056" y="4654296"/>
            <a:ext cx="288036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72784" y="4745736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Labels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72784" y="5038344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5 types: Shipping/Pallet/HU/Box/Custom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Live SVG preview + print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SSCC-18 barcode support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07424" y="4654296"/>
            <a:ext cx="2880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07424" y="4654296"/>
            <a:ext cx="288036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17152" y="4745736"/>
            <a:ext cx="2660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Analytics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17152" y="5038344"/>
            <a:ext cx="26609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OTIF rings, perfect order, fill rate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Financial KPIs (DSO, Cash-to-Cash)</a:t>
            </a:r>
          </a:p>
          <a:p>
            <a:pPr algn="l">
              <a:spcBef>
                <a:spcPts val="300"/>
              </a:spcBef>
            </a:pPr>
            <a:r>
              <a:rPr sz="900" b="0" i="0">
                <a:solidFill>
                  <a:srgbClr val="6A6D70"/>
                </a:solidFill>
              </a:rPr>
              <a:t>• 6-month trend 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API Backend — NestJS 10 + Fastify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Port 3001 · 15+ modules · production-ready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4864" cy="29718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44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E3E"/>
                </a:solidFill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4416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JWT RS256 · Argon2 passwords · TOTP MFA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4864" cy="29718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13441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F2"/>
                </a:solidFill>
              </a:rPr>
              <a:t>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34416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Full lifecycle PO/INV/ASN · AES-256-GCM · 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50492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650492"/>
            <a:ext cx="54864" cy="29718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16687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54A5E"/>
                </a:solidFill>
              </a:rPr>
              <a:t>partners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687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Connection requests · 3-tier access (Standard/Preferred/Trusted)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650492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650492"/>
            <a:ext cx="54864" cy="29718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16687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E3E"/>
                </a:solidFill>
              </a:rPr>
              <a:t>vendors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6687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Self-registration · admin approval · vendor profiles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975104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975104"/>
            <a:ext cx="54864" cy="29718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1993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9730C"/>
                </a:solidFill>
              </a:rPr>
              <a:t>carriers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19933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FedEx/UPS/DHL adapters · label generation · rate lookup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975104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975104"/>
            <a:ext cx="54864" cy="29718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1993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F2"/>
                </a:solidFill>
              </a:rPr>
              <a:t>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19933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Real-time shipment tracking · ETA calc · event enrichment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299716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2299716"/>
            <a:ext cx="54864" cy="29718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3180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3FA0"/>
                </a:solidFill>
              </a:rPr>
              <a:t>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231800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OTIF · document trends · invoice match rate · KPI dashboards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299716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2299716"/>
            <a:ext cx="54864" cy="29718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23180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54A5E"/>
                </a:solidFill>
              </a:rPr>
              <a:t>api-keys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231800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Scoped key generation · rate limiting · usage tracking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624328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2624328"/>
            <a:ext cx="54864" cy="29718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26426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9730C"/>
                </a:solidFill>
              </a:rPr>
              <a:t>webhooks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264261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Event subscriptions · HMAC-SHA256 signing · BullMQ delivery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624328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2624328"/>
            <a:ext cx="54864" cy="29718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81928" y="26426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E3E"/>
                </a:solidFill>
              </a:rPr>
              <a:t>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264261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Email/SMS alerts · per-user preferences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948940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4320" y="2948940"/>
            <a:ext cx="54864" cy="29718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29672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F2"/>
                </a:solidFill>
              </a:rPr>
              <a:t>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29672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Elasticsearch full-text document search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2948940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72200" y="2948940"/>
            <a:ext cx="54864" cy="29718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8" y="29672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3FA0"/>
                </a:solidFill>
              </a:rPr>
              <a:t>storage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29672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MinIO S3 integration · encrypted file uploads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273552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3273552"/>
            <a:ext cx="54864" cy="29718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54A5E"/>
                </a:solidFill>
              </a:rPr>
              <a:t>tenants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8760" y="3291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PostgreSQL RLS · multi-tenant context · plan management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3273552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3273552"/>
            <a:ext cx="54864" cy="29718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81928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E3E"/>
                </a:solidFill>
              </a:rPr>
              <a:t>users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3291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Roles: SUPER_ADMIN/ADMIN/MANAGER/OPERATOR/VIEWER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598164"/>
            <a:ext cx="5669280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3598164"/>
            <a:ext cx="54864" cy="29718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4048" y="36164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9730C"/>
                </a:solidFill>
              </a:rPr>
              <a:t>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08760" y="36164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D70"/>
                </a:solidFill>
              </a:rPr>
              <a:t>Claude Anthropic invoice matching · document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Document Lifecycle &amp;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End-to-end supply chain document exchange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737360" cy="640080"/>
          </a:xfrm>
          <a:prstGeom prst="rect">
            <a:avLst/>
          </a:prstGeom>
          <a:solidFill>
            <a:srgbClr val="32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8988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54A5E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371600"/>
            <a:ext cx="1737360" cy="64008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38988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54A5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371600"/>
            <a:ext cx="1737360" cy="640080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ACKNOWLEDGED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38988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54A5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1737360" cy="64008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ACCEPTED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38988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54A5E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1737360" cy="64008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371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86000"/>
            <a:ext cx="548640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286000"/>
            <a:ext cx="64008" cy="5212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322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54A5E"/>
                </a:solidFill>
              </a:rPr>
              <a:t>Purchase Order (PO)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234086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Buyer → Vendor. Line items, delivery terms, pricing.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548640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286000"/>
            <a:ext cx="64008" cy="5212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322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Invoice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34086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Vendor → Buyer. Payment request with 3-way match.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52928"/>
            <a:ext cx="548640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2852928"/>
            <a:ext cx="64008" cy="5212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889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Advance Ship Notice (ASN)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29077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Vendor → Buyer. Pre-shipment detail, SSCC barcodes.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852928"/>
            <a:ext cx="548640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2852928"/>
            <a:ext cx="64008" cy="5212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889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C"/>
                </a:solidFill>
              </a:rPr>
              <a:t>Delivery Note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90779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Confirms physical delivery with timestamps.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19856"/>
            <a:ext cx="548640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3419856"/>
            <a:ext cx="64008" cy="5212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456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3FA0"/>
                </a:solidFill>
              </a:rPr>
              <a:t>Bill of Lading (BOL)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34747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Carrier-issued transport contract.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419856"/>
            <a:ext cx="548640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419856"/>
            <a:ext cx="64008" cy="5212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456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Credit 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47472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Issued against returns/RMAs to reverse charges.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986784"/>
            <a:ext cx="548640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3986784"/>
            <a:ext cx="64008" cy="5212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54A5E"/>
                </a:solidFill>
              </a:rPr>
              <a:t>Customs Declaration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40416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Cross-border shipment regulatory documents.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3986784"/>
            <a:ext cx="548640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26480" y="3986784"/>
            <a:ext cx="64008" cy="5212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Shipping Label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0416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ZPL/PDF/PNG — FedEx, UPS, DHL, USPS, SSCC-18.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715000"/>
            <a:ext cx="11612880" cy="594360"/>
          </a:xfrm>
          <a:prstGeom prst="rect">
            <a:avLst/>
          </a:prstGeom>
          <a:solidFill>
            <a:srgbClr val="EFF5FF"/>
          </a:solidFill>
          <a:ln w="1270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3-Way Matching:  Purchase Order  ↔  Invoice  ↔  Advance Ship Notice  — automated reconciliation with AI-assisted discrepancy detection via Claude Anthropic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Enterprise-grade security at every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65760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1732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E3E"/>
                </a:solidFill>
              </a:rPr>
              <a:t>🔐 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83080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JWT RS256 — asymmetric key signing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Argon2id password hashing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TOTP-based multi-factor authentication (MFA)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Session management with Redis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088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088" y="1325880"/>
            <a:ext cx="365760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42816" y="141732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0F2"/>
                </a:solidFill>
              </a:rPr>
              <a:t>🛡  Data Encryption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1783080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AES-256-GCM encryption for documents at rest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RSA-PSS 2048-bit digital signatures per document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TLS 1.3 for all data in transit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IBAN/account data masked by 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132588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325880"/>
            <a:ext cx="3657600" cy="640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141732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54A5E"/>
                </a:solidFill>
              </a:rPr>
              <a:t>🏢  Multi-Tenancy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1783080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PostgreSQL Row-Level Security (RLS)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app.tenant_id session variable injection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Zero cross-tenant data leakage by design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Tenant-scoped API keys with fine-grained scopes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27832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227832"/>
            <a:ext cx="365760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3192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9730C"/>
                </a:solidFill>
              </a:rPr>
              <a:t>🔑 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685032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5 platform roles: SUPER_ADMIN → VIEWER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5 vendor roles: Admin/Manager/Finance/Logistics/Viewer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Scoped API keys (po:read, invoice:write, etc.)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Per-connection data-sharing tiers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088" y="3227832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33088" y="3227832"/>
            <a:ext cx="365760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3192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B3FA0"/>
                </a:solidFill>
              </a:rPr>
              <a:t>📋  Audit &amp;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6" y="3685032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Full audit trail on every document state change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Webhook HMAC-SHA256 signature verification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W-9/W-8 form status tracking per vendor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Compliance document vault with expiry alerts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1856" y="3227832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1856" y="3227832"/>
            <a:ext cx="365760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584" y="33192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E3E"/>
                </a:solidFill>
              </a:rPr>
              <a:t>🌐  API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4" y="3685032"/>
            <a:ext cx="3438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Kong API Gateway — rate limiting &amp; request inspection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API key prefix format: sf_live_*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Input validation via Zod schemas on all endpoints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CORS, helmet headers, injection prevention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Claude Anthropic MCP · EDI · Webhooks · Data Feed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57784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3FA0"/>
                </a:solidFill>
              </a:rPr>
              <a:t>🤖  MCP Server (Claude AI Integration)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6D70"/>
                </a:solidFill>
              </a:rPr>
              <a:t>8 tools exposed for agentic AI workflows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57400"/>
            <a:ext cx="5303520" cy="475488"/>
          </a:xfrm>
          <a:prstGeom prst="rect">
            <a:avLst/>
          </a:prstGeom>
          <a:solidFill>
            <a:srgbClr val="F5F0FF"/>
          </a:solidFill>
          <a:ln w="6350">
            <a:solidFill>
              <a:srgbClr val="D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" y="20939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3FA0"/>
                </a:solidFill>
              </a:rPr>
              <a:t>create_purchase_order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112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6D70"/>
                </a:solidFill>
              </a:rPr>
              <a:t>Generate PO with line items, delivery, payment terms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78607"/>
            <a:ext cx="5303520" cy="475488"/>
          </a:xfrm>
          <a:prstGeom prst="rect">
            <a:avLst/>
          </a:prstGeom>
          <a:solidFill>
            <a:srgbClr val="F5F0FF"/>
          </a:solidFill>
          <a:ln w="6350">
            <a:solidFill>
              <a:srgbClr val="D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2615183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3FA0"/>
                </a:solidFill>
              </a:rPr>
              <a:t>get_document_status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63347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6D70"/>
                </a:solidFill>
              </a:rPr>
              <a:t>Fetch document status, history, lifecycle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99814"/>
            <a:ext cx="5303520" cy="475488"/>
          </a:xfrm>
          <a:prstGeom prst="rect">
            <a:avLst/>
          </a:prstGeom>
          <a:solidFill>
            <a:srgbClr val="F5F0FF"/>
          </a:solidFill>
          <a:ln w="6350">
            <a:solidFill>
              <a:srgbClr val="D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313639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3FA0"/>
                </a:solidFill>
              </a:rPr>
              <a:t>track_shipment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15467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6D70"/>
                </a:solidFill>
              </a:rPr>
              <a:t>Real-time tracking with location and 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621021"/>
            <a:ext cx="5303520" cy="475488"/>
          </a:xfrm>
          <a:prstGeom prst="rect">
            <a:avLst/>
          </a:prstGeom>
          <a:solidFill>
            <a:srgbClr val="F5F0FF"/>
          </a:solidFill>
          <a:ln w="6350">
            <a:solidFill>
              <a:srgbClr val="D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3657597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3FA0"/>
                </a:solidFill>
              </a:rPr>
              <a:t>match_invoice_to_po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75885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6D70"/>
                </a:solidFill>
              </a:rPr>
              <a:t>AI 3-way matching — invoice ↔ PO ↔ ASN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142228"/>
            <a:ext cx="5303520" cy="475488"/>
          </a:xfrm>
          <a:prstGeom prst="rect">
            <a:avLst/>
          </a:prstGeom>
          <a:solidFill>
            <a:srgbClr val="F5F0FF"/>
          </a:solidFill>
          <a:ln w="6350">
            <a:solidFill>
              <a:srgbClr val="D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" y="4178804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3FA0"/>
                </a:solidFill>
              </a:rPr>
              <a:t>search_documents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1970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6D70"/>
                </a:solidFill>
              </a:rPr>
              <a:t>Full-text search across documents with filters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663435"/>
            <a:ext cx="5303520" cy="475488"/>
          </a:xfrm>
          <a:prstGeom prst="rect">
            <a:avLst/>
          </a:prstGeom>
          <a:solidFill>
            <a:srgbClr val="F5F0FF"/>
          </a:solidFill>
          <a:ln w="6350">
            <a:solidFill>
              <a:srgbClr val="D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" y="4700011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3FA0"/>
                </a:solidFill>
              </a:rPr>
              <a:t>generate_label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71829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6D70"/>
                </a:solidFill>
              </a:rPr>
              <a:t>Create shipping labels for FedEx/UPS/DHL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184642"/>
            <a:ext cx="5303520" cy="475488"/>
          </a:xfrm>
          <a:prstGeom prst="rect">
            <a:avLst/>
          </a:prstGeom>
          <a:solidFill>
            <a:srgbClr val="F5F0FF"/>
          </a:solidFill>
          <a:ln w="6350">
            <a:solidFill>
              <a:srgbClr val="D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522121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3FA0"/>
                </a:solidFill>
              </a:rPr>
              <a:t>vendor_performance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23950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6D70"/>
                </a:solidFill>
              </a:rPr>
              <a:t>Get vendor KPIs — OTIF, quality, cost metrics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705849"/>
            <a:ext cx="5303520" cy="475488"/>
          </a:xfrm>
          <a:prstGeom prst="rect">
            <a:avLst/>
          </a:prstGeom>
          <a:solidFill>
            <a:srgbClr val="F5F0FF"/>
          </a:solidFill>
          <a:ln w="6350">
            <a:solidFill>
              <a:srgbClr val="D8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5742425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B3FA0"/>
                </a:solidFill>
              </a:rPr>
              <a:t>approve_document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760713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6D70"/>
                </a:solidFill>
              </a:rPr>
              <a:t>Approve/reject documents (PO/Invoice/ASN)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1325880"/>
            <a:ext cx="57607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1325880"/>
            <a:ext cx="576072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30C"/>
                </a:solidFill>
              </a:rPr>
              <a:t>📡  EDI — @supplyforge/edi Package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178308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X12 850 (Purchase Order)  ·  X12 810 (Invoice)  ·  X12 856 (ASN)  ·  X12 997 (Ack)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EDIFACT ORDERS  ·  INVOIC  ·  DESADV  (Despatch Advice)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Bidirectional: generate outbound + parse inbound EDI documents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Enables direct legacy ERP integration (SAP, Oracle, etc.)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246120"/>
            <a:ext cx="576072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3246120"/>
            <a:ext cx="576072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337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F2"/>
                </a:solidFill>
              </a:rPr>
              <a:t>🔔  Webhook &amp; Event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7033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HMAC-SHA256 signed payloads for security verification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BullMQ async delivery with retry logic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Events: document.created/sent/accepted/rejected, payment.sent, shipment.updated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800600"/>
            <a:ext cx="57607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4800600"/>
            <a:ext cx="576072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4892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E3E"/>
                </a:solidFill>
              </a:rPr>
              <a:t>📊  Data Feed Subscriptions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257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Types: Inventory · Orders · Shipments · Pricing · Capacity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Delivery: WEBHOOK · API_POLL · SFTP · AS2</a:t>
            </a:r>
          </a:p>
          <a:p>
            <a:pPr algn="l">
              <a:spcBef>
                <a:spcPts val="500"/>
              </a:spcBef>
            </a:pPr>
            <a:r>
              <a:rPr sz="950" b="0" i="0">
                <a:solidFill>
                  <a:srgbClr val="6A6D70"/>
                </a:solidFill>
              </a:rPr>
              <a:t>▸  Vendor-controlled: choose what data to share with each buyer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Shared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Reusable libraries across API &amp; Web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325880"/>
            <a:ext cx="27889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325880"/>
            <a:ext cx="2788920" cy="640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569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54A5E"/>
                </a:solidFill>
              </a:rPr>
              <a:t>@supplyforge/types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19072"/>
            <a:ext cx="2569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54A5E"/>
                </a:solidFill>
              </a:rPr>
              <a:t>TypeScript Interface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2569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A6D70"/>
                </a:solidFill>
              </a:rPr>
              <a:t>Shared type definitions consumed by all apps.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2569464" cy="1828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514600"/>
            <a:ext cx="25694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Tenant, User, Document, PO, Invoice, ASN, Shipment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WebhookEvent, Notification, ApiKey, Partner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Carrier, TrackingEvent, AnalyticsKPI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Enums: DocumentStatus, TenantType, UserRole, CarrierType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All types exported as strict TypeScript interfaces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6392" y="1325880"/>
            <a:ext cx="27889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36392" y="1325880"/>
            <a:ext cx="278892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417320"/>
            <a:ext cx="2569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@supplyforge/validators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719072"/>
            <a:ext cx="2569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54A5E"/>
                </a:solidFill>
              </a:rPr>
              <a:t>Zod Validation Schemas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993392"/>
            <a:ext cx="2569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A6D70"/>
                </a:solidFill>
              </a:rPr>
              <a:t>Runtime + compile-time validation for all request/response shapes.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2468880"/>
            <a:ext cx="2569464" cy="1828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514600"/>
            <a:ext cx="25694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Registration &amp; login schema validation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Document creation / update validators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API key scope validation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Partner connection request schemas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Address, banking, tax form validators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16752" y="1325880"/>
            <a:ext cx="27889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16752" y="1325880"/>
            <a:ext cx="278892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417320"/>
            <a:ext cx="2569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@supplyforge/crypto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719072"/>
            <a:ext cx="2569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54A5E"/>
                </a:solidFill>
              </a:rPr>
              <a:t>Cryptography Utilities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1993392"/>
            <a:ext cx="2569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A6D70"/>
                </a:solidFill>
              </a:rPr>
              <a:t>All cryptographic operations in one auditable package.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468880"/>
            <a:ext cx="2569464" cy="1828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514600"/>
            <a:ext cx="25694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AES-256-GCM encrypt/decrypt for document content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RSA-PSS 2048-bit sign + verify (document integrity)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HMAC-SHA256 for webhook payload signing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SHA-256 general-purpose hashing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SSCC-18 barcode calculation (GS1 standard)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97112" y="1325880"/>
            <a:ext cx="27889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97112" y="1325880"/>
            <a:ext cx="278892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1417320"/>
            <a:ext cx="2569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C"/>
                </a:solidFill>
              </a:rPr>
              <a:t>@supplyforge/edi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1719072"/>
            <a:ext cx="2569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54A5E"/>
                </a:solidFill>
              </a:rPr>
              <a:t>EDI Generator &amp; Parser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1993392"/>
            <a:ext cx="25694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A6D70"/>
                </a:solidFill>
              </a:rPr>
              <a:t>Bi-directional X12 and EDIFACT processing.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2468880"/>
            <a:ext cx="2569464" cy="1828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2514600"/>
            <a:ext cx="2569464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X12: 850 PO · 810 Invoice · 856 ASN · 997 Acknowledgement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EDIFACT: ORDERS · INVOIC · DESADV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Generate outbound EDI from internal document objects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Parse inbound EDI into normalised TypeScript objects</a:t>
            </a:r>
          </a:p>
          <a:p>
            <a:pPr algn="l">
              <a:spcBef>
                <a:spcPts val="600"/>
              </a:spcBef>
            </a:pPr>
            <a:r>
              <a:rPr sz="900" b="0" i="0">
                <a:solidFill>
                  <a:srgbClr val="6A6D70"/>
                </a:solidFill>
              </a:rPr>
              <a:t>▸  Enables SAP / Oracle / legacy ERP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Infrastructure &amp;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Docker · Kubernetes · Kong · Terraform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73152" cy="7498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0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54A5E"/>
                </a:solidFill>
              </a:rPr>
              <a:t>PostgreSQL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417320"/>
            <a:ext cx="1188720" cy="274320"/>
          </a:xfrm>
          <a:prstGeom prst="rect">
            <a:avLst/>
          </a:prstGeom>
          <a:solidFill>
            <a:srgbClr val="CBD0D5"/>
          </a:solidFill>
          <a:ln w="9525">
            <a:solidFill>
              <a:srgbClr val="35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417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54A5E"/>
                </a:solidFill>
              </a:rPr>
              <a:t>5432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3716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Primary database. Row-Level Security (RLS) for multi-tenancy.
app.tenant_id injected per request for complete data isolation.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30552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130552"/>
            <a:ext cx="73152" cy="7498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854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Redis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221992"/>
            <a:ext cx="1188720" cy="274320"/>
          </a:xfrm>
          <a:prstGeom prst="rect">
            <a:avLst/>
          </a:prstGeom>
          <a:solidFill>
            <a:srgbClr val="EEBEBE"/>
          </a:solidFill>
          <a:ln w="9525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22219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00000"/>
                </a:solidFill>
              </a:rPr>
              <a:t>6379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176272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Session cache + rate limiting + BullMQ job queues.
Async document processing and webhook delivery queues.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35224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935224"/>
            <a:ext cx="73152" cy="7498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900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30C"/>
                </a:solidFill>
              </a:rPr>
              <a:t>RabbitMQ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026664"/>
            <a:ext cx="1188720" cy="274320"/>
          </a:xfrm>
          <a:prstGeom prst="rect">
            <a:avLst/>
          </a:prstGeom>
          <a:solidFill>
            <a:srgbClr val="F8DAC1"/>
          </a:solidFill>
          <a:ln w="9525">
            <a:solidFill>
              <a:srgbClr val="E97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0266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9730C"/>
                </a:solidFill>
              </a:rPr>
              <a:t>5672 / 15672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980944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Event message bus. Async document events, webhook delivery,
EDI routing and partner notification fan-out.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39896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739896"/>
            <a:ext cx="73152" cy="7498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E3E"/>
                </a:solidFill>
              </a:rPr>
              <a:t>MinIO (S3)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831336"/>
            <a:ext cx="1188720" cy="274320"/>
          </a:xfrm>
          <a:prstGeom prst="rect">
            <a:avLst/>
          </a:prstGeom>
          <a:solidFill>
            <a:srgbClr val="C2DDCD"/>
          </a:solidFill>
          <a:ln w="9525">
            <a:solidFill>
              <a:srgbClr val="107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38313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07E3E"/>
                </a:solidFill>
              </a:rPr>
              <a:t>9000 / 9001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78561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S3-compatible object storage for encrypted document files,
shipping labels, attachments and audit logs.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544568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544568"/>
            <a:ext cx="73152" cy="7498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994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F2"/>
                </a:solidFill>
              </a:rPr>
              <a:t>Elasticsearch 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4636008"/>
            <a:ext cx="1188720" cy="274320"/>
          </a:xfrm>
          <a:prstGeom prst="rect">
            <a:avLst/>
          </a:prstGeom>
          <a:solidFill>
            <a:srgbClr val="BEDAFA"/>
          </a:solidFill>
          <a:ln w="9525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4636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70F2"/>
                </a:solidFill>
              </a:rPr>
              <a:t>9200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59028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Full-text search across all documents, vendors, partners.
Indexed by type, tenant, status and date range.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49240"/>
            <a:ext cx="116128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349240"/>
            <a:ext cx="73152" cy="749808"/>
          </a:xfrm>
          <a:prstGeom prst="rect">
            <a:avLst/>
          </a:prstGeom>
          <a:solidFill>
            <a:srgbClr val="00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041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AA"/>
                </a:solidFill>
              </a:rPr>
              <a:t>Kong Gateway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5440680"/>
            <a:ext cx="1188720" cy="274320"/>
          </a:xfrm>
          <a:prstGeom prst="rect">
            <a:avLst/>
          </a:prstGeom>
          <a:solidFill>
            <a:srgbClr val="BED7E8"/>
          </a:solidFill>
          <a:ln w="9525"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0" y="54406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66AA"/>
                </a:solidFill>
              </a:rPr>
              <a:t>8000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539496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A6D70"/>
                </a:solidFill>
              </a:rPr>
              <a:t>API gateway — rate limiting, JWT auth plugin,
request/response transformation, access control lists.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309360"/>
            <a:ext cx="3657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3276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54A5E"/>
                </a:solidFill>
              </a:rPr>
              <a:t>🐳  Docker Compose — local dev environment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6309360"/>
            <a:ext cx="36576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63276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0F2"/>
                </a:solidFill>
              </a:rPr>
              <a:t>☸️  Kubernetes — production deployments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6309360"/>
            <a:ext cx="39319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40" y="63276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7E3E"/>
                </a:solidFill>
              </a:rPr>
              <a:t>🌍  Terraform IaC — cloud infrastructure (AWS/GCP/Azure)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Analytics &amp; KPI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Real-time performance measurement across all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325880"/>
            <a:ext cx="27889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325880"/>
            <a:ext cx="278892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569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7E3E"/>
                </a:solidFill>
              </a:rPr>
              <a:t>📦  Supply Chain KPIs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256946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OTIF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On-Time In-Full delivery performance (target: 95%)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Perfect Order Rate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Orders delivered on-time, in-full, damage-free, with correct docs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Fill Rate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ordered quantity actually fulfilled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On-Time Delivery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Shipments delivered by promised date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Acknowledgement Compliance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POs acknowledged within agreed 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1325880"/>
            <a:ext cx="27889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36392" y="1325880"/>
            <a:ext cx="278892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417320"/>
            <a:ext cx="2569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0F2"/>
                </a:solidFill>
              </a:rPr>
              <a:t>💰  Financial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828800"/>
            <a:ext cx="256946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DSO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Days Sales Outstanding — invoice to cash received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Cash-to-Cash Cycle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Time from paying suppliers to receiving customer payment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Invoice Match Rate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invoices matching PO with no discrepancies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Invoice Accuracy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Error-free invoice rate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Payment Terms Compliance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payments made within agreed terms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Early Pay Discount Rate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Capture rate on available early-payment discounts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1325880"/>
            <a:ext cx="27889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6752" y="1325880"/>
            <a:ext cx="278892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17320"/>
            <a:ext cx="2569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9730C"/>
                </a:solidFill>
              </a:rPr>
              <a:t>🏭  Procurement KPIs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256946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PO Acknowledgement Time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Average time to confirm receipt of purchase order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Average Lead Time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Days from PO issuance to goods receipt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Lead Time Compliance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deliveries within contracted lead time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PO Acceptance Rate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POs accepted without modification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Backorder Rate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orders with at least one line on backorder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7112" y="1325880"/>
            <a:ext cx="2788920" cy="52120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97112" y="1325880"/>
            <a:ext cx="278892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417320"/>
            <a:ext cx="2569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B3FA0"/>
                </a:solidFill>
              </a:rPr>
              <a:t>🌱  Quality &amp; ESG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828800"/>
            <a:ext cx="256946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First Pass Yield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units passing QC on first inspection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Quality Score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Composite quality rating per vendor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Damage-Free Rate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% of shipments received without damage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Carbon per Shipment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Scope 3 emissions tracking per delivery</a:t>
            </a:r>
          </a:p>
          <a:p>
            <a:pPr algn="l">
              <a:spcBef>
                <a:spcPts val="800"/>
              </a:spcBef>
            </a:pPr>
            <a:r>
              <a:rPr sz="1000" b="1" i="0">
                <a:solidFill>
                  <a:srgbClr val="32363A"/>
                </a:solidFill>
              </a:rPr>
              <a:t>Supplier Score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6A6D70"/>
                </a:solidFill>
              </a:rPr>
              <a:t>Composite 0–100 vendor performance index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Modern, production-proven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88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78892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17320"/>
            <a:ext cx="2569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64792"/>
            <a:ext cx="2569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Next.js 14 (App Router)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React 18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TypeScript 5.4 (strict)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TailwindCSS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React Query (TanStack)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Zod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2788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325880"/>
            <a:ext cx="278892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417320"/>
            <a:ext cx="2569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764792"/>
            <a:ext cx="2569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NestJS 10 + Fastify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TypeScript 5.4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Prisma ORM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Class-validator / transformer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Passport.js (JWT, API Key)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BullMQ (Redis)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2788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25880"/>
            <a:ext cx="2788920" cy="64008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417320"/>
            <a:ext cx="2569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54A5E"/>
                </a:solidFill>
              </a:rPr>
              <a:t>Data Stores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1764792"/>
            <a:ext cx="2569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PostgreSQL 16 (RLS)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Redis 7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Elasticsearch 8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MinIO (S3-compat.)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TimescaleDB-ready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Prisma migrations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25880"/>
            <a:ext cx="2788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1325880"/>
            <a:ext cx="278892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1417320"/>
            <a:ext cx="2569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730C"/>
                </a:solidFill>
              </a:rPr>
              <a:t>Infra / 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764792"/>
            <a:ext cx="2569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Turborepo monorepo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pnpm workspaces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Docker Compose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Kubernetes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Kong API Gateway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Terraform IaC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27889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278892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663440"/>
            <a:ext cx="2569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3FA0"/>
                </a:solidFill>
              </a:rPr>
              <a:t>Messaging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010912"/>
            <a:ext cx="25694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RabbitMQ 3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BullMQ job queues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NestJS EventEmitter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Webhook delivery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HMAC-SHA256 signing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572000"/>
            <a:ext cx="27889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4572000"/>
            <a:ext cx="2788920" cy="64008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128" y="4663440"/>
            <a:ext cx="2569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B0000"/>
                </a:solidFill>
              </a:rP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128" y="5010912"/>
            <a:ext cx="25694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JWT RS256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Argon2id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AES-256-GCM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RSA-PSS 2048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TOTP MFA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TLS 1.3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572000"/>
            <a:ext cx="27889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572000"/>
            <a:ext cx="278892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663440"/>
            <a:ext cx="2569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F2"/>
                </a:solidFill>
              </a:rPr>
              <a:t>AI / Integr.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5010912"/>
            <a:ext cx="25694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Claude Anthropic (MCP)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8 MCP tools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X12 EDI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EDIFACT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SFTP · AS2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MailHog (email dev)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4572000"/>
            <a:ext cx="27889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4572000"/>
            <a:ext cx="2788920" cy="64008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2288" y="4663440"/>
            <a:ext cx="2569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7E3E"/>
                </a:solidFill>
              </a:rPr>
              <a:t>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5010912"/>
            <a:ext cx="256946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TypeScript 5.4 (strict mode)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Full-stack type safety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@supplyforge/types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Shared validators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Zod schemas</a:t>
            </a:r>
          </a:p>
          <a:p>
            <a:pPr algn="l">
              <a:spcBef>
                <a:spcPts val="400"/>
              </a:spcBef>
            </a:pPr>
            <a:r>
              <a:rPr sz="950" b="0" i="0">
                <a:solidFill>
                  <a:srgbClr val="6A6D70"/>
                </a:solidFill>
              </a:rPr>
              <a:t>• 100% typed APIs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36576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35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8"/>
                </a:solidFill>
              </a:rPr>
              <a:t>Next development priorities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107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566160" cy="4114800"/>
          </a:xfrm>
          <a:prstGeom prst="rect">
            <a:avLst/>
          </a:prstGeom>
          <a:solidFill>
            <a:srgbClr val="1E3446"/>
          </a:solidFill>
          <a:ln w="19050">
            <a:solidFill>
              <a:srgbClr val="E97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3566160" cy="64008"/>
          </a:xfrm>
          <a:prstGeom prst="rect">
            <a:avLst/>
          </a:prstGeom>
          <a:solidFill>
            <a:srgbClr val="E97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730C"/>
                </a:solidFill>
              </a:rPr>
              <a:t>Tier 2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Dispute Center — formal dispute workflow with thread comms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Contracts &amp; Pricing Agreements — blanket POs, volume discounts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Inventory Management — live stock levels per SKU/warehouse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Messaging Center — threaded buyer-vendor communication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Onboarding Wizard — step-by-step vendor setup flow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Credit Notes — issue against invoices/returns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87368" y="1325880"/>
            <a:ext cx="3566160" cy="4114800"/>
          </a:xfrm>
          <a:prstGeom prst="rect">
            <a:avLst/>
          </a:prstGeom>
          <a:solidFill>
            <a:srgbClr val="1E3446"/>
          </a:solidFill>
          <a:ln w="1905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87368" y="1325880"/>
            <a:ext cx="3566160" cy="64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A0"/>
                </a:solidFill>
              </a:rPr>
              <a:t>Tier 3 Advanced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288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AI Assistant — Claude chat for 'Why is my OTIF low?'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Demand Forecasting — rolling 3/6-month from PO history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Early Payment Discounts — dynamic discounting dashboard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Quality Management — NCRs, CAPAs, quality incidents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EDI Configuration UI — self-service trading partner setup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ESG / Sustainability — scope 3 emissions, diversity reporting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54696" y="1325880"/>
            <a:ext cx="3566160" cy="4114800"/>
          </a:xfrm>
          <a:prstGeom prst="rect">
            <a:avLst/>
          </a:prstGeom>
          <a:solidFill>
            <a:srgbClr val="1E3446"/>
          </a:solidFill>
          <a:ln w="19050">
            <a:solidFill>
              <a:srgbClr val="007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4696" y="1325880"/>
            <a:ext cx="3566160" cy="6400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91856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0F2"/>
                </a:solidFill>
              </a:rPr>
              <a:t>Platform Enhancements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6" y="182880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API Keys self-service in vendor portal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Webhook configuration UI for vendors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Mobile PWA for on-the-go access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Business portal analytics deep-dive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Admin portal advanced reporting</a:t>
            </a:r>
          </a:p>
          <a:p>
            <a:pPr algn="l">
              <a:spcBef>
                <a:spcPts val="700"/>
              </a:spcBef>
            </a:pPr>
            <a:r>
              <a:rPr sz="1000" b="0" i="0">
                <a:solidFill>
                  <a:srgbClr val="FFFFFF"/>
                </a:solidFill>
              </a:rPr>
              <a:t>▸  Multi-language (i18n)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4D399"/>
                </a:solidFill>
              </a:rPr>
              <a:t>SupplyForge — Built for the modern 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A6D70"/>
                </a:solidFill>
              </a:rPr>
              <a:t>Multi-tenant · AI-powered · Enterprise-grade · Production-ready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